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Umbral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TUT</c:v>
                  </c:pt>
                  <c:pt idx="1">
                    <c:v>TTUT</c:v>
                  </c:pt>
                  <c:pt idx="2">
                    <c:v>CUR</c:v>
                  </c:pt>
                  <c:pt idx="3">
                    <c:v>ESP</c:v>
                  </c:pt>
                  <c:pt idx="4">
                    <c:v>PPP</c:v>
                  </c:pt>
                  <c:pt idx="5">
                    <c:v>BIE</c:v>
                  </c:pt>
                  <c:pt idx="6">
                    <c:v>MOV</c:v>
                  </c:pt>
                  <c:pt idx="7">
                    <c:v>MAT</c:v>
                  </c:pt>
                  <c:pt idx="8">
                    <c:v>TIT</c:v>
                  </c:pt>
                  <c:pt idx="9">
                    <c:v>SER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</c:v>
                </c:pt>
                <c:pt idx="1">
                  <c:v>0.6</c:v>
                </c:pt>
                <c:pt idx="2">
                  <c:v>0.65</c:v>
                </c:pt>
                <c:pt idx="3">
                  <c:v>0.62</c:v>
                </c:pt>
                <c:pt idx="4">
                  <c:v>0.7</c:v>
                </c:pt>
                <c:pt idx="5">
                  <c:v>0.65</c:v>
                </c:pt>
                <c:pt idx="6">
                  <c:v>0.55</c:v>
                </c:pt>
                <c:pt idx="7">
                  <c:v>0.75</c:v>
                </c:pt>
                <c:pt idx="8">
                  <c:v>0.72</c:v>
                </c:pt>
                <c:pt idx="9">
                  <c:v>0.65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566928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80" y="852221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Académico de Recuperación basada en Corpus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188720" y="3200400"/>
            <a:ext cx="9811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Automatizada de Consultas Universitarias en la EPIIS-UNSAAC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 Pari, Rayneld Fidel  ·  Florez Vega, Yamir Wagner  ·  Mamani Flores, Natan  ·  Merma Ccarhuarupay, Adel Alejandro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49884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Profesional de Ingeniería Informática y de Sistemas — Facultad de Ingeniería Eléctrica, Electrónica, Informática y Mecánica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18408" y="5212080"/>
            <a:ext cx="4754880" cy="502920"/>
          </a:xfrm>
          <a:prstGeom prst="roundRect">
            <a:avLst>
              <a:gd name="adj" fmla="val 50909"/>
            </a:avLst>
          </a:prstGeom>
          <a:solidFill>
            <a:srgbClr val="123A63"/>
          </a:solidFill>
          <a:ln/>
        </p:spPr>
      </p:sp>
      <p:sp>
        <p:nvSpPr>
          <p:cNvPr id="11" name="Text 8"/>
          <p:cNvSpPr/>
          <p:nvPr/>
        </p:nvSpPr>
        <p:spPr>
          <a:xfrm>
            <a:off x="3718408" y="5212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IF651 – Inteligencia Artificial  ·  Semestre 2026-I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de la exposición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1432" y="19202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58088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652" y="24615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432" y="324612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72872" y="370332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767432" y="19202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4088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652" y="24615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7432" y="324612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858872" y="370332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53432" y="19202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30088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652" y="24615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3432" y="324612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144872" y="370332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lenguaje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339432" y="19202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16088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652" y="24615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9432" y="324612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430872" y="370332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625432" y="19202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02088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652" y="246156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25432" y="324612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9716872" y="370332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frecuentes en un dominio cerrado y reglamentado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consulta recurrente en la EPIIS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9339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Tutorías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0" y="1993392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99339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0" y="1993392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99339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pre-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88036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88036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37760" y="2880360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8036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6732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0" y="3767328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76732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Titulación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2084832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767328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universitarios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5236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sistema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52360" y="1993392"/>
            <a:ext cx="502920" cy="502920"/>
          </a:xfrm>
          <a:prstGeom prst="ellipse">
            <a:avLst/>
          </a:prstGeom>
          <a:solidFill>
            <a:srgbClr val="E4EFF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3061" y="2114093"/>
            <a:ext cx="261518" cy="26151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09244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por qué se eligió cada respuesta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452360" y="2706624"/>
            <a:ext cx="502920" cy="502920"/>
          </a:xfrm>
          <a:prstGeom prst="ellipse">
            <a:avLst/>
          </a:prstGeom>
          <a:solidFill>
            <a:srgbClr val="E4EFF2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061" y="2827325"/>
            <a:ext cx="261518" cy="26151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092440" y="26791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JSON sin tocar el motor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7452360" y="3419856"/>
            <a:ext cx="502920" cy="502920"/>
          </a:xfrm>
          <a:prstGeom prst="ellipse">
            <a:avLst/>
          </a:prstGeom>
          <a:solidFill>
            <a:srgbClr val="E4EFF2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061" y="3540557"/>
            <a:ext cx="261518" cy="26151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092440" y="33924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 en memoria, costo O(1)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7452360" y="4133088"/>
            <a:ext cx="502920" cy="502920"/>
          </a:xfrm>
          <a:prstGeom prst="ellipse">
            <a:avLst/>
          </a:prstGeom>
          <a:solidFill>
            <a:srgbClr val="E4EFF2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061" y="4253789"/>
            <a:ext cx="261518" cy="26151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092440" y="410565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lingüística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y variaciones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recupera una respuesta institucional ya validada; ningún componente genera contenido nuevo a partir de un modelo entrenado.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DISEÑO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Reglas, recuperación o un modelo de lenguaje (LLM)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3657600"/>
        </p:xfrm>
        <a:graphic>
          <a:graphicData uri="http://schemas.openxmlformats.org/drawingml/2006/table">
            <a:tbl>
              <a:tblPr/>
              <a:tblGrid>
                <a:gridCol w="3108960"/>
                <a:gridCol w="2542032"/>
                <a:gridCol w="2542032"/>
                <a:gridCol w="253288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controlada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 del diseño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lingüística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ejecución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/ alto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 externa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alucinación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57784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E4EFF2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5650992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7607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55778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prioriza una respuesta determinista, verificable y siempre asociada a una fuente del corpus.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capas lógicas, separación física parcial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8216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92" y="1868668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5506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0" y="165506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ipywidgets del cuaderno — integrada al cuaderno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88336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92" y="2828788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1518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y orquestación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029200" y="261518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ChatbotEPIIS, ConversationHistory — chatbot_epiis.py aún vacío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648456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92" y="3788908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57530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y decisión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029200" y="357530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Preprocessor, IntentMatcher — versión modular más simple que el cuaderno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48056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608576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92" y="4749028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53542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respuesta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029200" y="453542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KnowledgeBaseLoader, ResponseBuilder — cargador modular con error en faq_index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44068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568696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92" y="5709148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49554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soporte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029200" y="549554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corpus/, knowledge_base/, knowledge_files/, sources/, tools/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ORIENTADO A OBJETOS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clases; un patrón Facade explícito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92206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64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31343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Normaliza, elimina tildes y signos, filtra stopwords, tokeniza y genera raíces.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801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69" y="192206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764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KnowledgeBaseLoader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231343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los siete JSON y construye diccionarios por id e intención.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8013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29" y="192206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764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IntentMatcher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9328" y="2313432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IDF, corrige errores, puntúa intenciones, aplica contexto.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273552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9" y="35954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4381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ResponseBuilder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3986784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la entrada del corpus y arma la respuesta estructurada.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273552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269" y="359542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4381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ConversationHistory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44568" y="3986784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turnos, scores, categorías y métricas de resolución.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273552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47472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029" y="359542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4381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ChatbotEPIIS (Facade)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9328" y="3986784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todos los componentes y expone la operación respond().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B2545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Strategy aún no está formalmente implementado: se describe como una posible evolución, no como característica consolidada.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CENTRAL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decisión de una consulta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084168" y="1417320"/>
            <a:ext cx="4023360" cy="530352"/>
          </a:xfrm>
          <a:prstGeom prst="roundRect">
            <a:avLst>
              <a:gd name="adj" fmla="val 155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84168" y="14173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del usuario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48" y="1947672"/>
            <a:ext cx="0" cy="146304"/>
          </a:xfrm>
          <a:prstGeom prst="line">
            <a:avLst/>
          </a:prstGeom>
          <a:noFill/>
          <a:ln w="22225">
            <a:solidFill>
              <a:srgbClr val="94A3A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84168" y="2093976"/>
            <a:ext cx="4023360" cy="530352"/>
          </a:xfrm>
          <a:prstGeom prst="roundRect">
            <a:avLst>
              <a:gd name="adj" fmla="val 155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84168" y="20939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2624328"/>
            <a:ext cx="0" cy="146304"/>
          </a:xfrm>
          <a:prstGeom prst="line">
            <a:avLst/>
          </a:prstGeom>
          <a:noFill/>
          <a:ln w="22225">
            <a:solidFill>
              <a:srgbClr val="94A3A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84168" y="2770632"/>
            <a:ext cx="4023360" cy="530352"/>
          </a:xfrm>
          <a:prstGeom prst="roundRect">
            <a:avLst>
              <a:gd name="adj" fmla="val 155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84168" y="277063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ranking de intenciones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5848" y="3300984"/>
            <a:ext cx="0" cy="146304"/>
          </a:xfrm>
          <a:prstGeom prst="line">
            <a:avLst/>
          </a:prstGeom>
          <a:noFill/>
          <a:ln w="22225">
            <a:solidFill>
              <a:srgbClr val="94A3A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55568" y="3447288"/>
            <a:ext cx="4480560" cy="530352"/>
          </a:xfrm>
          <a:prstGeom prst="roundRect">
            <a:avLst>
              <a:gd name="adj" fmla="val 15517"/>
            </a:avLst>
          </a:prstGeom>
          <a:solidFill>
            <a:srgbClr val="E8871E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55568" y="34472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¿score ≥ umbral de la intención?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5848" y="3977640"/>
            <a:ext cx="0" cy="146304"/>
          </a:xfrm>
          <a:prstGeom prst="line">
            <a:avLst/>
          </a:prstGeom>
          <a:noFill/>
          <a:ln w="22225">
            <a:solidFill>
              <a:srgbClr val="94A3A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227168" y="3959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84168" y="4123944"/>
            <a:ext cx="4023360" cy="530352"/>
          </a:xfrm>
          <a:prstGeom prst="roundRect">
            <a:avLst>
              <a:gd name="adj" fmla="val 1551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84168" y="412394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en el corpus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4654296"/>
            <a:ext cx="0" cy="146304"/>
          </a:xfrm>
          <a:prstGeom prst="line">
            <a:avLst/>
          </a:prstGeom>
          <a:noFill/>
          <a:ln w="22225">
            <a:solidFill>
              <a:srgbClr val="94A3A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84168" y="4800600"/>
            <a:ext cx="4023360" cy="530352"/>
          </a:xfrm>
          <a:prstGeom prst="roundRect">
            <a:avLst>
              <a:gd name="adj" fmla="val 1551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84168" y="48006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 normativo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95848" y="5330952"/>
            <a:ext cx="0" cy="146304"/>
          </a:xfrm>
          <a:prstGeom prst="line">
            <a:avLst/>
          </a:prstGeom>
          <a:noFill/>
          <a:ln w="22225">
            <a:solidFill>
              <a:srgbClr val="94A3A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84168" y="5477256"/>
            <a:ext cx="4023360" cy="530352"/>
          </a:xfrm>
          <a:prstGeom prst="roundRect">
            <a:avLst>
              <a:gd name="adj" fmla="val 1551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84168" y="54772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al usuario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36128" y="3712464"/>
            <a:ext cx="457200" cy="0"/>
          </a:xfrm>
          <a:prstGeom prst="line">
            <a:avLst/>
          </a:prstGeom>
          <a:noFill/>
          <a:ln w="22225">
            <a:solidFill>
              <a:srgbClr val="94A3A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381848" y="3172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93328" y="3447288"/>
            <a:ext cx="2377440" cy="804672"/>
          </a:xfrm>
          <a:prstGeom prst="roundRect">
            <a:avLst>
              <a:gd name="adj" fmla="val 10227"/>
            </a:avLst>
          </a:prstGeom>
          <a:solidFill>
            <a:srgbClr val="B0472B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93328" y="344728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DEL LENGUAJE NATURAL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Normalización, IDF y coincidencia difusa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(Preprocessor)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78992" cy="777240"/>
          </a:xfrm>
          <a:prstGeom prst="roundRect">
            <a:avLst>
              <a:gd name="adj" fmla="val 9412"/>
            </a:avLst>
          </a:prstGeom>
          <a:solidFill>
            <a:srgbClr val="E4EFF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minúsculas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27632" y="2308860"/>
            <a:ext cx="164592" cy="0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92224" y="1920240"/>
            <a:ext cx="1078992" cy="777240"/>
          </a:xfrm>
          <a:prstGeom prst="roundRect">
            <a:avLst>
              <a:gd name="adj" fmla="val 9412"/>
            </a:avLst>
          </a:prstGeom>
          <a:solidFill>
            <a:srgbClr val="E4EFF2"/>
          </a:solidFill>
          <a:ln/>
        </p:spPr>
      </p:sp>
      <p:sp>
        <p:nvSpPr>
          <p:cNvPr id="9" name="Text 7"/>
          <p:cNvSpPr/>
          <p:nvPr/>
        </p:nvSpPr>
        <p:spPr>
          <a:xfrm>
            <a:off x="1792224" y="1920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tildes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(NFD)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71216" y="2308860"/>
            <a:ext cx="164592" cy="0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35808" y="1920240"/>
            <a:ext cx="1078992" cy="777240"/>
          </a:xfrm>
          <a:prstGeom prst="roundRect">
            <a:avLst>
              <a:gd name="adj" fmla="val 9412"/>
            </a:avLst>
          </a:prstGeom>
          <a:solidFill>
            <a:srgbClr val="E4EFF2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920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signos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0" y="2308860"/>
            <a:ext cx="164592" cy="0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79392" y="1920240"/>
            <a:ext cx="1078992" cy="777240"/>
          </a:xfrm>
          <a:prstGeom prst="roundRect">
            <a:avLst>
              <a:gd name="adj" fmla="val 9412"/>
            </a:avLst>
          </a:prstGeom>
          <a:solidFill>
            <a:srgbClr val="E4EFF2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1920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58384" y="2308860"/>
            <a:ext cx="164592" cy="0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22976" y="1920240"/>
            <a:ext cx="1078992" cy="777240"/>
          </a:xfrm>
          <a:prstGeom prst="roundRect">
            <a:avLst>
              <a:gd name="adj" fmla="val 9412"/>
            </a:avLst>
          </a:prstGeom>
          <a:solidFill>
            <a:srgbClr val="E4EFF2"/>
          </a:solidFill>
          <a:ln/>
        </p:spPr>
      </p:sp>
      <p:sp>
        <p:nvSpPr>
          <p:cNvPr id="18" name="Text 16"/>
          <p:cNvSpPr/>
          <p:nvPr/>
        </p:nvSpPr>
        <p:spPr>
          <a:xfrm>
            <a:off x="5522976" y="192024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(t_norm, T, T_exp) — texto normalizado, tokens y conjunto expandido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y coincidencia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2743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w_primaria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w_secundaria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w_negativa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 frase exacta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566160" y="37947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SequenceMatcher, umbral 0.78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566160" y="41605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conversacional: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1.20 a la categoría previa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75120" y="1508760"/>
            <a:ext cx="4965192" cy="1417320"/>
          </a:xfrm>
          <a:prstGeom prst="roundRect">
            <a:avLst>
              <a:gd name="adj" fmla="val 774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9494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 IDF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949440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IDF(t) = log( (N+1) / (df(t)+1) ) + 1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49440" y="2514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intenciones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675120" y="31546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29" name="Text 26"/>
          <p:cNvSpPr/>
          <p:nvPr/>
        </p:nvSpPr>
        <p:spPr>
          <a:xfrm>
            <a:off x="667512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647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6675120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IDF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348472" y="31546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E4EFF2"/>
          </a:solidFill>
          <a:ln/>
        </p:spPr>
      </p:sp>
      <p:sp>
        <p:nvSpPr>
          <p:cNvPr id="32" name="Text 29"/>
          <p:cNvSpPr/>
          <p:nvPr/>
        </p:nvSpPr>
        <p:spPr>
          <a:xfrm>
            <a:off x="8348472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618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348472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021824" y="315468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EEF6F8"/>
          </a:solidFill>
          <a:ln/>
        </p:spPr>
      </p:sp>
      <p:sp>
        <p:nvSpPr>
          <p:cNvPr id="35" name="Text 32"/>
          <p:cNvSpPr/>
          <p:nvPr/>
        </p:nvSpPr>
        <p:spPr>
          <a:xfrm>
            <a:off x="10021824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631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10021824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difusas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675120" y="4389120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 limpia del cuaderno construye estos índices a partir del corpus actual de 100 intenciones.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Umbrales por categoría (confianza_minima)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θᵢ = max( p_c(i), 0.50, min(0.95, 0.90 × sᵢ_min) 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consultas de validación por intención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seguridad del 10 % hacia abajo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absoluto 0.50 · techo 0.95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específico por categoría (p_c)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E4EF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72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los cien resultados finales quedaron determinados por el piso de su categoría: piso_categoria_aplicado en el 100 % de las intenciones.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89320" y="155448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DEL PUNTAJE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 score puede superar 1.0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2316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disparadora literal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78892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directamente un score de 1.0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42316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Bonificación de especificidad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44568" y="278892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+ 0.07×min(n,4) → hasta 1.03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78308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42316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 contextual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39328" y="278892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CONTEXT_BOOST × 1.20 sobre la última categoría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puntaje de 0.85 puede convertirse en 1.02 tras el refuerzo contextual.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6400800" cy="169164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4069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visual recomendada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" y="44074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F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min(int(resp["score"] * 100), 100)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22960" y="48920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limita la representación visual de la barra; no altera el ranking interno ni la comparación con los umbrales.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178040" y="3931920"/>
            <a:ext cx="4462272" cy="1691640"/>
          </a:xfrm>
          <a:prstGeom prst="roundRect">
            <a:avLst>
              <a:gd name="adj" fmla="val 5405"/>
            </a:avLst>
          </a:prstGeom>
          <a:solidFill>
            <a:srgbClr val="E4EFF2"/>
          </a:solidFill>
          <a:ln/>
        </p:spPr>
      </p:sp>
      <p:sp>
        <p:nvSpPr>
          <p:cNvPr id="25" name="Shape 20"/>
          <p:cNvSpPr/>
          <p:nvPr/>
        </p:nvSpPr>
        <p:spPr>
          <a:xfrm>
            <a:off x="7406640" y="416052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341" y="4281221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46720" y="406908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llamarse “puntaje de coincidencia”, no “confianza” ni “probabilidad”.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de 100 entradas y el índice faq_index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96312" y="1600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6916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96312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6002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3984" y="16916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43984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lingüísticas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categorías × 10 entradas × 3 variaciones por entrada.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897880" cy="2011680"/>
          </a:xfrm>
          <a:prstGeom prst="roundRect">
            <a:avLst>
              <a:gd name="adj" fmla="val 4545"/>
            </a:avLst>
          </a:prstGeom>
          <a:solidFill>
            <a:srgbClr val="E4EF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94760"/>
            <a:ext cx="5440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faq_index.json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almacena respuestas ni clasifica lenguaje. Es un índice auxiliar con 5 campos: versión, total de preguntas, total de categorías, resumen índice y busqueda_rapida.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Mapea: intent_id → id_del_corpus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1600200"/>
            <a:ext cx="4965192" cy="169164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mapeo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F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consulta_tutoria_definicion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5256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2697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F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TUT-001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03720" y="3063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diccionario — costo promedio O(1)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520440"/>
            <a:ext cx="4965192" cy="1325880"/>
          </a:xfrm>
          <a:prstGeom prst="roundRect">
            <a:avLst>
              <a:gd name="adj" fmla="val 6897"/>
            </a:avLst>
          </a:prstGeom>
          <a:solidFill>
            <a:srgbClr val="FBE9D8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3703320"/>
            <a:ext cx="457200" cy="457200"/>
          </a:xfrm>
          <a:prstGeom prst="ellipse">
            <a:avLst/>
          </a:prstGeom>
          <a:solidFill>
            <a:srgbClr val="B0472B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3813048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52360" y="3566160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knowledge_base_loader.py todavía busca una subclave “mapa_muestra” inexistente: debe corregirse antes de equipararlo al cuaderno.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ConversationHistory: registra, no decide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por cada turno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consulta original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normalizado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Intención, score y categoría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fallback y respuesta construida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 partir del historial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turnos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resolución y de fallback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categoría · reporte textual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508760"/>
            <a:ext cx="5148072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0" y="173736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234" y="186903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52360" y="17830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 las respuestas posteriores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766560" y="2423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dato de _turnos se envía a IntentMatcher ni a ResponseBuilder. No existe aprendizaje en línea.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66560" y="3383280"/>
            <a:ext cx="4572000" cy="0"/>
          </a:xfrm>
          <a:prstGeom prst="line">
            <a:avLst/>
          </a:prstGeom>
          <a:noFill/>
          <a:ln w="12700">
            <a:solidFill>
              <a:srgbClr val="2B5C8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adaptación contextual real: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766560" y="3858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F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IntentMatcher._last_category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0" y="4251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× 1.20 a las candidatas de la categoría previa, solo en el siguiente turno.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ALCANCE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 se incorporó un LLM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institucional finito y reglamentado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9604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76479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directa de la fuente normativa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EF6F8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196047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176479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determinista y reproducible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56067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36499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claves de API ni infraestructura de inferencia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4340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0" y="3429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356067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57800" y="336499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costo y latencia variable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3816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E4EFF2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66760" y="3429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434" y="356067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3364992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importa transformers ni openai — solo Python estándar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4EFF2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55778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podría incorporarse luego como reformulador o clasificador semántico, pero la respuesta final debe seguir anclada al corpus y a sus fuentes.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limpia: 29 de 41 casos correctos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0" cy="4526280"/>
          </a:xfrm>
          <a:prstGeom prst="roundRect">
            <a:avLst>
              <a:gd name="adj" fmla="val 311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70.7%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41 casos correctos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3383280" cy="0"/>
          </a:xfrm>
          <a:prstGeom prst="line">
            <a:avLst/>
          </a:prstGeom>
          <a:noFill/>
          <a:ln w="12700">
            <a:solidFill>
              <a:srgbClr val="2B5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520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incorrecta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4164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por fallback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654296"/>
            <a:ext cx="3383280" cy="0"/>
          </a:xfrm>
          <a:prstGeom prst="line">
            <a:avLst/>
          </a:prstGeom>
          <a:noFill/>
          <a:ln w="12700">
            <a:solidFill>
              <a:srgbClr val="2B5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37176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34/41 guardada en el cuaderno corresponde a una versión anterior, sin el umbral por intención activo.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representativos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965960"/>
          <a:ext cx="6702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0449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Jalar un curso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(0.581 &lt; 0.65)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elegir especialidad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(0.532 &lt; 0.62)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titulación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(0.383 &lt; 0.72)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genérica sobre PPP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(0.265 &lt; 0.70)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 de matrícula “Serunsa”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— keyword ausente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EPIIS · UNSAAC · IF651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conclusiones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3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prueba redactadas por el propio equipo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3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conjunto independiente fuera de dominio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3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calibrador no compite contra las otras 99 intenciones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3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pisos por categoría dominan los 100 resultados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3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 no está calibrado como probabilidad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3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Cuaderno, exportación y módulos aún no sincronizados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76672" cy="3429000"/>
          </a:xfrm>
          <a:prstGeom prst="roundRect">
            <a:avLst>
              <a:gd name="adj" fmla="val 3733"/>
            </a:avLst>
          </a:prstGeom>
          <a:solidFill>
            <a:srgbClr val="123A63"/>
          </a:solidFill>
          <a:ln/>
          <a:effectLst>
            <a:outerShdw sx="100000" sy="100000" kx="0" ky="0" algn="bl" rotWithShape="0" blurRad="889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9634" y="196047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7960" y="2514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constituye un prototipo institucional trazable y de bajo costo.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37960" y="32461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requiere sincronizar las versiones de cuaderno, exportación y módulos, y ampliar la evaluación con consultas reales y fuera de dominio.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Académico EPIIS-UNSAAC</dc:title>
  <dc:subject>PptxGenJS Presentation</dc:subject>
  <dc:creator>Castro Pari, Florez Vega, Mamani Flores, Merma Ccarhuarupay</dc:creator>
  <cp:lastModifiedBy>Castro Pari, Florez Vega, Mamani Flores, Merma Ccarhuarupay</cp:lastModifiedBy>
  <cp:revision>1</cp:revision>
  <dcterms:created xsi:type="dcterms:W3CDTF">2026-06-21T05:06:26Z</dcterms:created>
  <dcterms:modified xsi:type="dcterms:W3CDTF">2026-06-21T05:06:26Z</dcterms:modified>
</cp:coreProperties>
</file>